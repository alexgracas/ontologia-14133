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0" r:id="rId3"/>
  </p:sldIdLst>
  <p:sldSz cx="32404050" cy="432054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FF"/>
    <a:srgbClr val="FFFFFF"/>
    <a:srgbClr val="0033CC"/>
    <a:srgbClr val="0066FF"/>
    <a:srgbClr val="0099FF"/>
    <a:srgbClr val="33CCFF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6690C-7180-4D83-8F0A-83BA333F32B0}" v="903" dt="2025-08-30T19:53:27.655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/>
    <p:restoredTop sz="86407"/>
  </p:normalViewPr>
  <p:slideViewPr>
    <p:cSldViewPr>
      <p:cViewPr>
        <p:scale>
          <a:sx n="100" d="100"/>
          <a:sy n="100" d="100"/>
        </p:scale>
        <p:origin x="144" y="-14560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8C94598-0652-724D-6286-6516374081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AD3C6C2-CB01-8D58-6E09-89F161609C2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FCBB416-D53E-CFAF-679D-5042ED5C4D8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0CBB825-BAFE-55B7-2806-83F2B72772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0A71B6C-2E17-61FD-9EC4-73DC72601E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8AB9B27-8327-7CD3-1301-112BC35FF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890946B-144C-43E5-B4F3-A3DC19DDC46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436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CCFCB-12C3-85C9-68A4-63C10D13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A3368C-F0E3-7C65-3881-9CB16D550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0A4DD2-D93B-1533-CBFD-36879BF19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09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A2DBD-F048-4997-8E1A-5E01C6FC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5433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849339-D75E-ADA5-78CF-5BB2F748C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6717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05C948B-BB36-C7A1-CF2F-B1AA76BA2D3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114425" y="9258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B45E09-593C-17FF-4ABC-2FFE13E771DF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1114425" y="108066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6A2984-F03A-60CF-714C-E5C6108EEC5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16506825" y="9258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7D6E4FB-AC43-2CE8-1F86-0B488EDFB1A0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auto">
          <a:xfrm>
            <a:off x="16506825" y="108066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31D578A-C919-7109-1113-490DEE04B97F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auto">
          <a:xfrm>
            <a:off x="1114425" y="179451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AF65EA-1EF0-13F0-51B6-661DA2BD2331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auto">
          <a:xfrm>
            <a:off x="1114425" y="19493497"/>
            <a:ext cx="14760000" cy="10415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3ACBF74-148B-5DA5-7D67-ED1EC76187F4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auto">
          <a:xfrm>
            <a:off x="16490421" y="24072203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5E6B7BB-14FC-3FB2-7942-1CA9B36510D1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auto">
          <a:xfrm>
            <a:off x="16490421" y="25620600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777C036F-B19A-D219-F291-893D6FD0DF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4425" y="30390097"/>
            <a:ext cx="14760000" cy="6909803"/>
          </a:xfr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B3ABA890-6B2B-FE4A-A955-E6E2A4EDE7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4425" y="37376100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e a fonte da imagem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E714591-6D80-4174-FAAD-2C382876977F}"/>
              </a:ext>
            </a:extLst>
          </p:cNvPr>
          <p:cNvSpPr>
            <a:spLocks noGrp="1"/>
          </p:cNvSpPr>
          <p:nvPr>
            <p:ph idx="22" hasCustomPrompt="1"/>
          </p:nvPr>
        </p:nvSpPr>
        <p:spPr bwMode="auto">
          <a:xfrm>
            <a:off x="16506825" y="32093903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6C3F343-7CEC-3552-F317-F3C3A4EC69D6}"/>
              </a:ext>
            </a:extLst>
          </p:cNvPr>
          <p:cNvSpPr>
            <a:spLocks noGrp="1"/>
          </p:cNvSpPr>
          <p:nvPr>
            <p:ph idx="23" hasCustomPrompt="1"/>
          </p:nvPr>
        </p:nvSpPr>
        <p:spPr bwMode="auto">
          <a:xfrm>
            <a:off x="16506825" y="33642300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</a:t>
            </a:r>
          </a:p>
        </p:txBody>
      </p:sp>
      <p:sp>
        <p:nvSpPr>
          <p:cNvPr id="21" name="Espaço Reservado para Tabela 20">
            <a:extLst>
              <a:ext uri="{FF2B5EF4-FFF2-40B4-BE49-F238E27FC236}">
                <a16:creationId xmlns:a16="http://schemas.microsoft.com/office/drawing/2014/main" id="{B023CB31-C050-0079-B8DA-E29E0AA840C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6550775" y="17983399"/>
            <a:ext cx="14760000" cy="3608806"/>
          </a:xfrm>
        </p:spPr>
        <p:txBody>
          <a:bodyPr/>
          <a:lstStyle/>
          <a:p>
            <a:endParaRPr lang="pt-BR"/>
          </a:p>
        </p:txBody>
      </p:sp>
      <p:sp>
        <p:nvSpPr>
          <p:cNvPr id="22" name="Espaço Reservado para Texto 18">
            <a:extLst>
              <a:ext uri="{FF2B5EF4-FFF2-40B4-BE49-F238E27FC236}">
                <a16:creationId xmlns:a16="http://schemas.microsoft.com/office/drawing/2014/main" id="{768CB9CE-97F7-B1A6-21BE-477C8EC21B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50775" y="21678900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e fonte da tabela</a:t>
            </a:r>
          </a:p>
        </p:txBody>
      </p:sp>
      <p:sp>
        <p:nvSpPr>
          <p:cNvPr id="23" name="Espaço Reservado para Conteúdo 7">
            <a:extLst>
              <a:ext uri="{FF2B5EF4-FFF2-40B4-BE49-F238E27FC236}">
                <a16:creationId xmlns:a16="http://schemas.microsoft.com/office/drawing/2014/main" id="{D6CB3559-0783-CAF6-781D-CD06D889B68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517225" y="227014"/>
            <a:ext cx="6934200" cy="28346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</p:spTree>
    <p:extLst>
      <p:ext uri="{BB962C8B-B14F-4D97-AF65-F5344CB8AC3E}">
        <p14:creationId xmlns:p14="http://schemas.microsoft.com/office/powerpoint/2010/main" val="98836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A2DBD-F048-4997-8E1A-5E01C6FC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5433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849339-D75E-ADA5-78CF-5BB2F748C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6717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05C948B-BB36-C7A1-CF2F-B1AA76BA2D3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114425" y="9258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B45E09-593C-17FF-4ABC-2FFE13E771DF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1114425" y="108066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6A2984-F03A-60CF-714C-E5C6108EEC5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16506825" y="9258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7D6E4FB-AC43-2CE8-1F86-0B488EDFB1A0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auto">
          <a:xfrm>
            <a:off x="16506825" y="108066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31D578A-C919-7109-1113-490DEE04B97F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auto">
          <a:xfrm>
            <a:off x="1114425" y="179451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AF65EA-1EF0-13F0-51B6-661DA2BD2331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auto">
          <a:xfrm>
            <a:off x="1114425" y="19493497"/>
            <a:ext cx="14760000" cy="10415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3ACBF74-148B-5DA5-7D67-ED1EC76187F4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auto">
          <a:xfrm>
            <a:off x="16490421" y="18048707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5E6B7BB-14FC-3FB2-7942-1CA9B36510D1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auto">
          <a:xfrm>
            <a:off x="16461846" y="19683996"/>
            <a:ext cx="14760000" cy="1022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E714591-6D80-4174-FAAD-2C382876977F}"/>
              </a:ext>
            </a:extLst>
          </p:cNvPr>
          <p:cNvSpPr>
            <a:spLocks noGrp="1"/>
          </p:cNvSpPr>
          <p:nvPr>
            <p:ph idx="22" hasCustomPrompt="1"/>
          </p:nvPr>
        </p:nvSpPr>
        <p:spPr bwMode="auto">
          <a:xfrm>
            <a:off x="16506825" y="306705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6C3F343-7CEC-3552-F317-F3C3A4EC69D6}"/>
              </a:ext>
            </a:extLst>
          </p:cNvPr>
          <p:cNvSpPr>
            <a:spLocks noGrp="1"/>
          </p:cNvSpPr>
          <p:nvPr>
            <p:ph idx="23" hasCustomPrompt="1"/>
          </p:nvPr>
        </p:nvSpPr>
        <p:spPr bwMode="auto">
          <a:xfrm>
            <a:off x="16506825" y="32499300"/>
            <a:ext cx="14760000" cy="6909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</a:t>
            </a:r>
          </a:p>
        </p:txBody>
      </p:sp>
      <p:sp>
        <p:nvSpPr>
          <p:cNvPr id="23" name="Espaço Reservado para Conteúdo 7">
            <a:extLst>
              <a:ext uri="{FF2B5EF4-FFF2-40B4-BE49-F238E27FC236}">
                <a16:creationId xmlns:a16="http://schemas.microsoft.com/office/drawing/2014/main" id="{D6CB3559-0783-CAF6-781D-CD06D889B68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517225" y="227014"/>
            <a:ext cx="6934200" cy="28346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F379BB-DAF4-439C-1C06-0E4028C87A52}"/>
              </a:ext>
            </a:extLst>
          </p:cNvPr>
          <p:cNvSpPr>
            <a:spLocks noGrp="1"/>
          </p:cNvSpPr>
          <p:nvPr>
            <p:ph idx="27" hasCustomPrompt="1"/>
          </p:nvPr>
        </p:nvSpPr>
        <p:spPr bwMode="auto">
          <a:xfrm>
            <a:off x="1085850" y="30678498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779E9D-246B-808E-CCB1-AB28B9112A21}"/>
              </a:ext>
            </a:extLst>
          </p:cNvPr>
          <p:cNvSpPr>
            <a:spLocks noGrp="1"/>
          </p:cNvSpPr>
          <p:nvPr>
            <p:ph idx="28" hasCustomPrompt="1"/>
          </p:nvPr>
        </p:nvSpPr>
        <p:spPr bwMode="auto">
          <a:xfrm>
            <a:off x="1085850" y="32507298"/>
            <a:ext cx="14760000" cy="6909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</a:t>
            </a:r>
          </a:p>
        </p:txBody>
      </p:sp>
    </p:spTree>
    <p:extLst>
      <p:ext uri="{BB962C8B-B14F-4D97-AF65-F5344CB8AC3E}">
        <p14:creationId xmlns:p14="http://schemas.microsoft.com/office/powerpoint/2010/main" val="1011371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05C948B-BB36-C7A1-CF2F-B1AA76BA2D3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114425" y="97155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B45E09-593C-17FF-4ABC-2FFE13E771DF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1114425" y="112638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6A2984-F03A-60CF-714C-E5C6108EEC5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16506825" y="97155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7D6E4FB-AC43-2CE8-1F86-0B488EDFB1A0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auto">
          <a:xfrm>
            <a:off x="16506825" y="112638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31D578A-C919-7109-1113-490DEE04B97F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auto">
          <a:xfrm>
            <a:off x="1114425" y="190881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3AF65EA-1EF0-13F0-51B6-661DA2BD2331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auto">
          <a:xfrm>
            <a:off x="1114425" y="206364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3ACBF74-148B-5DA5-7D67-ED1EC76187F4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auto">
          <a:xfrm>
            <a:off x="16506825" y="190881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6000" b="1" dirty="0"/>
            </a:lvl1pPr>
          </a:lstStyle>
          <a:p>
            <a:pPr lvl="0" indent="0" defTabSz="4137025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pt-BR" altLang="pt-BR" dirty="0"/>
              <a:t>CLIQUE PARA EDITAR TÍTULO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5E6B7BB-14FC-3FB2-7942-1CA9B36510D1}"/>
              </a:ext>
            </a:extLst>
          </p:cNvPr>
          <p:cNvSpPr>
            <a:spLocks noGrp="1"/>
          </p:cNvSpPr>
          <p:nvPr>
            <p:ph idx="19" hasCustomPrompt="1"/>
          </p:nvPr>
        </p:nvSpPr>
        <p:spPr bwMode="auto">
          <a:xfrm>
            <a:off x="16506825" y="20636497"/>
            <a:ext cx="14760000" cy="576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lang="pt-BR" altLang="pt-BR" sz="3200" dirty="0" smtClean="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777C036F-B19A-D219-F291-893D6FD0DF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37225" y="29070300"/>
            <a:ext cx="14760000" cy="5334000"/>
          </a:xfr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B3ABA890-6B2B-FE4A-A955-E6E2A4EDE7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6349" y="34480500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da imagem</a:t>
            </a:r>
          </a:p>
          <a:p>
            <a:pPr marL="0" marR="0" lvl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Clique para editar a fonte da imagem</a:t>
            </a:r>
          </a:p>
        </p:txBody>
      </p:sp>
      <p:sp>
        <p:nvSpPr>
          <p:cNvPr id="20" name="Espaço Reservado para Conteúdo 7">
            <a:extLst>
              <a:ext uri="{FF2B5EF4-FFF2-40B4-BE49-F238E27FC236}">
                <a16:creationId xmlns:a16="http://schemas.microsoft.com/office/drawing/2014/main" id="{8EE52D5C-4E2B-036C-F497-ED286557919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3517225" y="227013"/>
            <a:ext cx="6934200" cy="29828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98ECB7C-1B92-9A1A-3A0F-D3140A0F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6915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D0E98CDB-0E56-F8FB-501C-0995BB8CB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8199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11" name="Espaço Reservado para Tabela 20">
            <a:extLst>
              <a:ext uri="{FF2B5EF4-FFF2-40B4-BE49-F238E27FC236}">
                <a16:creationId xmlns:a16="http://schemas.microsoft.com/office/drawing/2014/main" id="{1DADCFBD-55C2-BD1B-CF24-18A3FA70F992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6478250" y="29032200"/>
            <a:ext cx="14760000" cy="3608806"/>
          </a:xfrm>
        </p:spPr>
        <p:txBody>
          <a:bodyPr/>
          <a:lstStyle/>
          <a:p>
            <a:endParaRPr lang="pt-BR"/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59545B41-4B36-3945-012B-DDD57D0901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478250" y="32727701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e fonte da tabela</a:t>
            </a:r>
          </a:p>
        </p:txBody>
      </p:sp>
    </p:spTree>
    <p:extLst>
      <p:ext uri="{BB962C8B-B14F-4D97-AF65-F5344CB8AC3E}">
        <p14:creationId xmlns:p14="http://schemas.microsoft.com/office/powerpoint/2010/main" val="298405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FEBE4D5-4F81-E44F-FCBE-9CCFD9F5D7E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114425" y="10401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3A88C-4710-BC51-1BFB-038B1AB71DEC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1114425" y="11949697"/>
            <a:ext cx="14760000" cy="1407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00F7519-C762-E5F5-B5CA-E7E526F4BABA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16468650" y="104013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CA9DCF1-44DB-C245-D5B6-996E91382705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auto">
          <a:xfrm>
            <a:off x="16468650" y="11949697"/>
            <a:ext cx="14760000" cy="1407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7C299317-9909-86DD-1965-CC14D9B2A0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62525" y="27508200"/>
            <a:ext cx="22479000" cy="838200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Espaço Reservado para Texto 18">
            <a:extLst>
              <a:ext uri="{FF2B5EF4-FFF2-40B4-BE49-F238E27FC236}">
                <a16:creationId xmlns:a16="http://schemas.microsoft.com/office/drawing/2014/main" id="{5A1D766A-EBDA-D8EB-DB98-AAC3E66519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2525" y="35928300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e a fonte da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383CA5-1568-0085-B17D-B4D94366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5433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09D14001-821D-7384-6915-1C04B31460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6717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9" name="Espaço Reservado para Conteúdo 7">
            <a:extLst>
              <a:ext uri="{FF2B5EF4-FFF2-40B4-BE49-F238E27FC236}">
                <a16:creationId xmlns:a16="http://schemas.microsoft.com/office/drawing/2014/main" id="{BCABD6CB-EDA5-2457-2783-4FD4A05985B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517225" y="227014"/>
            <a:ext cx="6934200" cy="28346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</p:spTree>
    <p:extLst>
      <p:ext uri="{BB962C8B-B14F-4D97-AF65-F5344CB8AC3E}">
        <p14:creationId xmlns:p14="http://schemas.microsoft.com/office/powerpoint/2010/main" val="310892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FEBE4D5-4F81-E44F-FCBE-9CCFD9F5D7E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1114425" y="9639300"/>
            <a:ext cx="30110400" cy="154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pt-BR" altLang="pt-BR" dirty="0"/>
              <a:t>CLIQUE PARA EDITAR TÍTULO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3A88C-4710-BC51-1BFB-038B1AB71DEC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1114425" y="11187698"/>
            <a:ext cx="30110400" cy="1407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>
              <a:defRPr sz="3200"/>
            </a:lvl1pPr>
          </a:lstStyle>
          <a:p>
            <a:pPr lvl="0"/>
            <a:r>
              <a:rPr lang="pt-BR" altLang="pt-BR" dirty="0"/>
              <a:t>CLIQUE PARA EDITAR TEXTO,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E6C904-334F-2FAC-6A19-589D60AF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5433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036E3B08-7F29-2AB5-F439-59E4499B29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6717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9" name="Espaço Reservado para Conteúdo 7">
            <a:extLst>
              <a:ext uri="{FF2B5EF4-FFF2-40B4-BE49-F238E27FC236}">
                <a16:creationId xmlns:a16="http://schemas.microsoft.com/office/drawing/2014/main" id="{BF297E98-5ED9-B2D0-5847-640702FAB74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517225" y="227014"/>
            <a:ext cx="6934200" cy="28346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  <p:sp>
        <p:nvSpPr>
          <p:cNvPr id="11" name="Espaço Reservado para Imagem 13">
            <a:extLst>
              <a:ext uri="{FF2B5EF4-FFF2-40B4-BE49-F238E27FC236}">
                <a16:creationId xmlns:a16="http://schemas.microsoft.com/office/drawing/2014/main" id="{D2ECB006-F810-9594-8C9B-3F0F88E924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62525" y="27508200"/>
            <a:ext cx="22479000" cy="8382000"/>
          </a:xfrm>
        </p:spPr>
        <p:txBody>
          <a:bodyPr/>
          <a:lstStyle/>
          <a:p>
            <a:endParaRPr lang="pt-BR"/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D376FE21-3975-7B59-2855-6D02E09AF5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2525" y="35928300"/>
            <a:ext cx="14759999" cy="1066800"/>
          </a:xfrm>
        </p:spPr>
        <p:txBody>
          <a:bodyPr/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/>
            </a:lvl1pPr>
            <a:lvl2pPr marL="0" indent="0" algn="l">
              <a:buFont typeface="Arial" panose="020B0604020202020204" pitchFamily="34" charset="0"/>
              <a:buNone/>
              <a:defRPr/>
            </a:lvl2pPr>
            <a:lvl3pPr marL="1698625" indent="0" algn="l">
              <a:buFont typeface="Arial" panose="020B0604020202020204" pitchFamily="34" charset="0"/>
              <a:buNone/>
              <a:defRPr/>
            </a:lvl3pPr>
            <a:lvl4pPr marL="1698625" indent="0" algn="l">
              <a:buFont typeface="Arial" panose="020B0604020202020204" pitchFamily="34" charset="0"/>
              <a:buNone/>
              <a:defRPr/>
            </a:lvl4pPr>
            <a:lvl5pPr marL="1698625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pt-BR" dirty="0"/>
              <a:t>Clique para editar o título e a fonte da imagem</a:t>
            </a:r>
          </a:p>
        </p:txBody>
      </p:sp>
    </p:spTree>
    <p:extLst>
      <p:ext uri="{BB962C8B-B14F-4D97-AF65-F5344CB8AC3E}">
        <p14:creationId xmlns:p14="http://schemas.microsoft.com/office/powerpoint/2010/main" val="350642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0F47BB6-6150-E97E-E152-FAE9875B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25" y="3543300"/>
            <a:ext cx="30110400" cy="2214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>
              <a:defRPr lang="pt-BR" sz="6000" b="1" kern="1200">
                <a:latin typeface="Arial" panose="020B0604020202020204" pitchFamily="34" charset="0"/>
                <a:ea typeface="Geneva" panose="020B0503030404040204" pitchFamily="124" charset="-128"/>
                <a:cs typeface="Arial" panose="020B0604020202020204" pitchFamily="34" charset="0"/>
              </a:defRPr>
            </a:lvl1pPr>
          </a:lstStyle>
          <a:p>
            <a:pPr lvl="0" eaLnBrk="1" hangingPunct="1"/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A0F6CA27-CBF2-A6B5-ED03-7614E282E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2850" y="6671700"/>
            <a:ext cx="28800000" cy="1066800"/>
          </a:xfrm>
        </p:spPr>
        <p:txBody>
          <a:bodyPr anchor="ctr"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06851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137025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205537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272463" indent="0" algn="ctr">
              <a:buNone/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nome dos autores Mestres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0673370-DC09-EAF2-471F-30B7CC355BA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517225" y="227014"/>
            <a:ext cx="6934200" cy="283469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Inserir a imagem</a:t>
            </a:r>
          </a:p>
        </p:txBody>
      </p:sp>
    </p:spTree>
    <p:extLst>
      <p:ext uri="{BB962C8B-B14F-4D97-AF65-F5344CB8AC3E}">
        <p14:creationId xmlns:p14="http://schemas.microsoft.com/office/powerpoint/2010/main" val="165001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1847F8E1-172B-ED00-F67E-034FD077E9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85862" y="9462668"/>
            <a:ext cx="30138188" cy="3061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B0A9C64-228D-8003-1F01-6EB9459EA87F}"/>
              </a:ext>
            </a:extLst>
          </p:cNvPr>
          <p:cNvSpPr/>
          <p:nvPr/>
        </p:nvSpPr>
        <p:spPr>
          <a:xfrm>
            <a:off x="0" y="40486013"/>
            <a:ext cx="32404050" cy="852487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>
              <a:defRPr/>
            </a:pPr>
            <a:r>
              <a:rPr lang="pt-BR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Realização												Organização											Apoio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B65C1A2-639F-6688-EFB9-91B645D59486}"/>
              </a:ext>
            </a:extLst>
          </p:cNvPr>
          <p:cNvCxnSpPr/>
          <p:nvPr/>
        </p:nvCxnSpPr>
        <p:spPr>
          <a:xfrm>
            <a:off x="0" y="40347900"/>
            <a:ext cx="32404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76AB6E18-F94C-2223-2D74-50366CC2D0F6}"/>
              </a:ext>
            </a:extLst>
          </p:cNvPr>
          <p:cNvSpPr/>
          <p:nvPr userDrawn="1"/>
        </p:nvSpPr>
        <p:spPr>
          <a:xfrm>
            <a:off x="0" y="3314700"/>
            <a:ext cx="32404050" cy="55324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033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1148C815-38D5-B35E-403E-FAB2A623BF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" y="221169"/>
            <a:ext cx="1588023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Imagem 9">
            <a:extLst>
              <a:ext uri="{FF2B5EF4-FFF2-40B4-BE49-F238E27FC236}">
                <a16:creationId xmlns:a16="http://schemas.microsoft.com/office/drawing/2014/main" id="{9E1EAD82-2EB2-A3F5-0EFE-87D045548A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863" y="41455975"/>
            <a:ext cx="4424362" cy="153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8BBB783-9811-D19C-2913-78B76FD6376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343025" y="41130830"/>
            <a:ext cx="2340000" cy="2340000"/>
          </a:xfrm>
          <a:prstGeom prst="rect">
            <a:avLst/>
          </a:prstGeom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34F6923-29C7-CF12-B31C-A7F734F4C697}"/>
              </a:ext>
            </a:extLst>
          </p:cNvPr>
          <p:cNvGrpSpPr/>
          <p:nvPr userDrawn="1"/>
        </p:nvGrpSpPr>
        <p:grpSpPr>
          <a:xfrm>
            <a:off x="9943875" y="41186100"/>
            <a:ext cx="12516300" cy="2020200"/>
            <a:chOff x="6409425" y="41204069"/>
            <a:chExt cx="12516300" cy="2020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B652F99-CC3E-92AA-E924-E146760FA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17629725" y="41563541"/>
              <a:ext cx="1296000" cy="129600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075DD7E-BAE3-6666-2763-AF9DAB25A7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2286127" y="41460269"/>
              <a:ext cx="2985535" cy="176400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3E9BDE7-00CA-857B-F0DC-77C6D33EBB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536250" y="41760830"/>
              <a:ext cx="3567052" cy="1080000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98DF3D15-0B7A-CFD0-47DA-357FAD6E8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5454487" y="41347141"/>
              <a:ext cx="1895513" cy="1440000"/>
            </a:xfrm>
            <a:prstGeom prst="rect">
              <a:avLst/>
            </a:prstGeom>
          </p:spPr>
        </p:pic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BC961265-EF61-402B-4476-213DED2F55A3}"/>
                </a:ext>
              </a:extLst>
            </p:cNvPr>
            <p:cNvGrpSpPr/>
            <p:nvPr userDrawn="1"/>
          </p:nvGrpSpPr>
          <p:grpSpPr>
            <a:xfrm>
              <a:off x="6409425" y="41204069"/>
              <a:ext cx="1944000" cy="1810831"/>
              <a:chOff x="6333225" y="41024700"/>
              <a:chExt cx="1944000" cy="1810831"/>
            </a:xfrm>
          </p:grpSpPr>
          <p:pic>
            <p:nvPicPr>
              <p:cNvPr id="28" name="Imagem 27">
                <a:extLst>
                  <a:ext uri="{FF2B5EF4-FFF2-40B4-BE49-F238E27FC236}">
                    <a16:creationId xmlns:a16="http://schemas.microsoft.com/office/drawing/2014/main" id="{DB696F69-1FF3-317D-0570-5EC62B12976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5"/>
              <a:stretch>
                <a:fillRect/>
              </a:stretch>
            </p:blipFill>
            <p:spPr>
              <a:xfrm>
                <a:off x="6678868" y="41024700"/>
                <a:ext cx="1252714" cy="1152000"/>
              </a:xfrm>
              <a:prstGeom prst="rect">
                <a:avLst/>
              </a:prstGeom>
            </p:spPr>
          </p:pic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4AC814C2-A7E2-B7CF-8D76-066D5BBD48DD}"/>
                  </a:ext>
                </a:extLst>
              </p:cNvPr>
              <p:cNvGrpSpPr/>
              <p:nvPr userDrawn="1"/>
            </p:nvGrpSpPr>
            <p:grpSpPr>
              <a:xfrm>
                <a:off x="6333225" y="42223531"/>
                <a:ext cx="1944000" cy="612000"/>
                <a:chOff x="9568517" y="28727100"/>
                <a:chExt cx="3419578" cy="1129552"/>
              </a:xfrm>
            </p:grpSpPr>
            <p:pic>
              <p:nvPicPr>
                <p:cNvPr id="30" name="Imagem 29">
                  <a:extLst>
                    <a:ext uri="{FF2B5EF4-FFF2-40B4-BE49-F238E27FC236}">
                      <a16:creationId xmlns:a16="http://schemas.microsoft.com/office/drawing/2014/main" id="{E8D956BA-18BF-E74A-F7C4-518BD469E6E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6"/>
                <a:srcRect l="20165" r="34875"/>
                <a:stretch>
                  <a:fillRect/>
                </a:stretch>
              </p:blipFill>
              <p:spPr>
                <a:xfrm>
                  <a:off x="9568517" y="28727100"/>
                  <a:ext cx="3419578" cy="648000"/>
                </a:xfrm>
                <a:prstGeom prst="rect">
                  <a:avLst/>
                </a:prstGeom>
              </p:spPr>
            </p:pic>
            <p:pic>
              <p:nvPicPr>
                <p:cNvPr id="32" name="Imagem 31">
                  <a:extLst>
                    <a:ext uri="{FF2B5EF4-FFF2-40B4-BE49-F238E27FC236}">
                      <a16:creationId xmlns:a16="http://schemas.microsoft.com/office/drawing/2014/main" id="{2919BBEC-F65F-9E71-F376-1DFD34B9026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16"/>
                <a:srcRect l="65166" t="-13973"/>
                <a:stretch>
                  <a:fillRect/>
                </a:stretch>
              </p:blipFill>
              <p:spPr>
                <a:xfrm>
                  <a:off x="9953625" y="29118110"/>
                  <a:ext cx="2649362" cy="738542"/>
                </a:xfrm>
                <a:prstGeom prst="rect">
                  <a:avLst/>
                </a:prstGeom>
              </p:spPr>
            </p:pic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1" r:id="rId3"/>
    <p:sldLayoutId id="2147483664" r:id="rId4"/>
    <p:sldLayoutId id="2147483666" r:id="rId5"/>
    <p:sldLayoutId id="2147483659" r:id="rId6"/>
  </p:sldLayoutIdLst>
  <p:hf sldNum="0" hdr="0" ftr="0" dt="0"/>
  <p:txStyles>
    <p:titleStyle>
      <a:lvl1pPr algn="ctr" defTabSz="4137025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37025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2pPr>
      <a:lvl3pPr algn="ctr" defTabSz="4137025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3pPr>
      <a:lvl4pPr algn="ctr" defTabSz="4137025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4pPr>
      <a:lvl5pPr algn="ctr" defTabSz="4137025" rtl="0" eaLnBrk="0" fontAlgn="base" hangingPunct="0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4137025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4137025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4137025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4137025" rtl="0" fontAlgn="base">
        <a:spcBef>
          <a:spcPct val="0"/>
        </a:spcBef>
        <a:spcAft>
          <a:spcPct val="0"/>
        </a:spcAft>
        <a:defRPr sz="19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0" indent="0" algn="l" defTabSz="4137025" rtl="0" eaLnBrk="0" fontAlgn="base" hangingPunct="0">
        <a:spcBef>
          <a:spcPct val="20000"/>
        </a:spcBef>
        <a:spcAft>
          <a:spcPct val="0"/>
        </a:spcAft>
        <a:buNone/>
        <a:defRPr sz="6000" b="1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just" defTabSz="4137025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None/>
        <a:defRPr sz="3200">
          <a:solidFill>
            <a:schemeClr val="tx1"/>
          </a:solidFill>
          <a:latin typeface="+mn-lt"/>
        </a:defRPr>
      </a:lvl2pPr>
      <a:lvl3pPr marL="1763713" indent="-65088" algn="just" defTabSz="4137025" rtl="0" eaLnBrk="0" fontAlgn="base" hangingPunct="0">
        <a:spcBef>
          <a:spcPct val="20000"/>
        </a:spcBef>
        <a:spcAft>
          <a:spcPct val="0"/>
        </a:spcAft>
        <a:buNone/>
        <a:defRPr sz="3200">
          <a:solidFill>
            <a:schemeClr val="tx1"/>
          </a:solidFill>
          <a:latin typeface="+mn-lt"/>
        </a:defRPr>
      </a:lvl3pPr>
      <a:lvl4pPr marL="1763713" indent="-65088" algn="just" defTabSz="4137025" rtl="0" eaLnBrk="0" fontAlgn="base" hangingPunct="0">
        <a:spcBef>
          <a:spcPct val="20000"/>
        </a:spcBef>
        <a:spcAft>
          <a:spcPct val="0"/>
        </a:spcAft>
        <a:buNone/>
        <a:defRPr sz="3200">
          <a:solidFill>
            <a:schemeClr val="tx1"/>
          </a:solidFill>
          <a:latin typeface="+mn-lt"/>
        </a:defRPr>
      </a:lvl4pPr>
      <a:lvl5pPr marL="1763713" indent="-65088" algn="just" defTabSz="4137025" rtl="0" eaLnBrk="0" fontAlgn="base" hangingPunct="0">
        <a:spcBef>
          <a:spcPct val="20000"/>
        </a:spcBef>
        <a:spcAft>
          <a:spcPct val="0"/>
        </a:spcAft>
        <a:buNone/>
        <a:defRPr sz="3200">
          <a:solidFill>
            <a:schemeClr val="tx1"/>
          </a:solidFill>
          <a:latin typeface="+mn-lt"/>
        </a:defRPr>
      </a:lvl5pPr>
      <a:lvl6pPr marL="9765030" indent="-1035050" algn="l" defTabSz="4137025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6pPr>
      <a:lvl7pPr marL="10222230" indent="-1035050" algn="l" defTabSz="4137025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7pPr>
      <a:lvl8pPr marL="10679430" indent="-1035050" algn="l" defTabSz="4137025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8pPr>
      <a:lvl9pPr marL="11136630" indent="-1035050" algn="l" defTabSz="4137025" rtl="0" fontAlgn="base">
        <a:spcBef>
          <a:spcPct val="20000"/>
        </a:spcBef>
        <a:spcAft>
          <a:spcPct val="0"/>
        </a:spcAft>
        <a:buChar char="»"/>
        <a:defRPr sz="9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tiff"/><Relationship Id="rId4" Type="http://schemas.openxmlformats.org/officeDocument/2006/relationships/image" Target="../media/image11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43310-5F5E-8CA0-2CAF-466A6923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650" y="3976051"/>
            <a:ext cx="30110400" cy="2214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err="1"/>
              <a:t>Ontologia</a:t>
            </a:r>
            <a:r>
              <a:rPr lang="en-US" dirty="0"/>
              <a:t> de </a:t>
            </a:r>
            <a:r>
              <a:rPr lang="en-US" dirty="0" err="1"/>
              <a:t>Domínio</a:t>
            </a:r>
            <a:r>
              <a:rPr lang="en-US" dirty="0"/>
              <a:t> de </a:t>
            </a:r>
            <a:r>
              <a:rPr lang="en-US" dirty="0" err="1"/>
              <a:t>Licitação</a:t>
            </a:r>
            <a:r>
              <a:rPr lang="en-US" dirty="0"/>
              <a:t> Segundo a LEI 14.133 </a:t>
            </a:r>
            <a:r>
              <a:rPr lang="en-US" dirty="0" err="1"/>
              <a:t>fundamentada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UFO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BF549-5329-50B5-6C13-31E34CA9AC1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02025" y="6782624"/>
            <a:ext cx="28800000" cy="1832101"/>
          </a:xfrm>
        </p:spPr>
        <p:txBody>
          <a:bodyPr numCol="2"/>
          <a:lstStyle/>
          <a:p>
            <a:pPr algn="ctr"/>
            <a:r>
              <a:rPr lang="pt-BR" altLang="pt-BR" sz="3600" dirty="0">
                <a:latin typeface="+mj-lt"/>
                <a:cs typeface="Geneva" pitchFamily="34" charset="0"/>
              </a:rPr>
              <a:t>Alex Pinheiro das Graças</a:t>
            </a:r>
          </a:p>
          <a:p>
            <a:pPr algn="ctr"/>
            <a:r>
              <a:rPr lang="pt-BR" altLang="pt-BR" sz="2400" b="0" dirty="0">
                <a:cs typeface="Geneva" pitchFamily="34" charset="0"/>
              </a:rPr>
              <a:t>UTFPR, </a:t>
            </a:r>
            <a:r>
              <a:rPr lang="pt-BR" altLang="pt-BR" sz="2400" b="0" dirty="0" err="1">
                <a:cs typeface="Geneva" pitchFamily="34" charset="0"/>
              </a:rPr>
              <a:t>alexgracas@alunos.utfpr.edu.br</a:t>
            </a:r>
            <a:endParaRPr lang="pt-BR" altLang="pt-BR" sz="4400" dirty="0">
              <a:cs typeface="Geneva" pitchFamily="34" charset="0"/>
            </a:endParaRPr>
          </a:p>
          <a:p>
            <a:pPr algn="ctr"/>
            <a:r>
              <a:rPr lang="pt-BR" altLang="pt-BR" sz="3600" dirty="0">
                <a:latin typeface="+mj-lt"/>
              </a:rPr>
              <a:t>Cesar Tacla</a:t>
            </a:r>
          </a:p>
          <a:p>
            <a:pPr algn="ctr"/>
            <a:r>
              <a:rPr lang="pt-BR" altLang="pt-BR" sz="2400" b="0" dirty="0"/>
              <a:t>UTFPR, </a:t>
            </a:r>
            <a:r>
              <a:rPr lang="pt-BR" altLang="pt-BR" sz="2400" b="0" dirty="0" err="1"/>
              <a:t>tacla@utfpr.edu.br</a:t>
            </a:r>
            <a:r>
              <a:rPr lang="pt-BR" altLang="pt-BR" sz="2400" b="0" dirty="0"/>
              <a:t> </a:t>
            </a:r>
            <a:endParaRPr lang="pt-BR" sz="3600" dirty="0">
              <a:latin typeface="+mj-lt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4485CC-E69B-76E9-6B67-8EC4D7634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1" y="10176686"/>
            <a:ext cx="14760000" cy="1066800"/>
          </a:xfrm>
        </p:spPr>
        <p:txBody>
          <a:bodyPr/>
          <a:lstStyle/>
          <a:p>
            <a:r>
              <a:rPr lang="pt-BR" altLang="pt-BR" dirty="0">
                <a:latin typeface="Arial" panose="020B0604020202020204" pitchFamily="34" charset="0"/>
                <a:cs typeface="Geneva" pitchFamily="34" charset="0"/>
              </a:rPr>
              <a:t>INTRODUÇÃO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A389F5B-1DE9-AA18-9382-456F0C638F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102225" y="11256186"/>
            <a:ext cx="14760000" cy="12777203"/>
          </a:xfrm>
        </p:spPr>
        <p:txBody>
          <a:bodyPr/>
          <a:lstStyle/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Compras e contratações são atividades essenciais a organizações públicas e de suma importância para muitas empresas privadas. No entanto, a licitação governamental envolve uma legislação específica e complexa, uma grande quantidade de procedimentos que torna o processo licitatório moroso e complexo [1]. 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Esta morosidade no processo licitatório muitas vezes é uma consequência direta da sua complexidade e agravada pela falta de conhecimento ou concordância pelos entes envolvidos no processo licitatório. Não é incomum que pessoas envolvidas no processo desconheçam os documentos necessários em cada fase da licitação, os requisitos e informações necessárias.  O que pode levar a processos tramitando de modo desnecessário repetidamente entre diferentes setores do órgão governamental. 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Considerando a importância do processo licitatório e a possibilidade de desenvolver sistemas da informação e agentes de inteligência artificial para tornar o processo mais ágil e preciso este trabalho propõe uma ontologia para representar o conhecimento de modo preciso e sem ambiguidades. O objetivo primário desta ontologia é ser útil na representação e recuperação de conhecimentos, e na criação de sistemas de informação e modelos de inteligência artificial apoiados por grandes modelos de linguagem.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Para garantir a qualidade   da ontologia foi utilizada a metologia </a:t>
            </a:r>
            <a:r>
              <a:rPr lang="pt-BR" altLang="pt-BR" sz="2700" b="0" dirty="0" err="1">
                <a:latin typeface="Arial" panose="020B0604020202020204" pitchFamily="34" charset="0"/>
                <a:cs typeface="Geneva" pitchFamily="34" charset="0"/>
              </a:rPr>
              <a:t>SABIOx</a:t>
            </a:r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 [2] com foco na qualidade no processo de construção. Também foi utilizada a ontologia fundacional UFO [3] e a linguagem </a:t>
            </a:r>
            <a:r>
              <a:rPr lang="pt-BR" altLang="pt-BR" sz="2700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, para abordar as características de interoperabilidade semântica, explicitação dos comprometimentos ontológicos e a garantia de que o artefato final seja conceitualmente limpo e semanticamente inequívoco [4].</a:t>
            </a:r>
            <a:endParaRPr lang="pt-BR" sz="2700" b="0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56769190-730D-D96D-2805-834F34C2F8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102225" y="20523926"/>
            <a:ext cx="14760000" cy="1066800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1C1BA970-0F9E-DF13-FEAA-F63228C90EA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124450" y="21565326"/>
            <a:ext cx="14760000" cy="6781799"/>
          </a:xfrm>
        </p:spPr>
        <p:txBody>
          <a:bodyPr/>
          <a:lstStyle/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O desenvolvimento da ontologia seguiu as etapas da metodologia </a:t>
            </a:r>
            <a:r>
              <a:rPr lang="pt-BR" altLang="pt-BR" sz="2700" b="0" dirty="0" err="1">
                <a:latin typeface="Arial" panose="020B0604020202020204" pitchFamily="34" charset="0"/>
                <a:cs typeface="Geneva" pitchFamily="34" charset="0"/>
              </a:rPr>
              <a:t>SABIOx</a:t>
            </a:r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 [2]. Na fase de requisitos foi definido que a ontologia teria como propósito representar conceitos do processo licitatório realizados por agentes públicos, principalmente da esfera federal, com base na Lei 14133 [5],  e outras normas de apoio ao processo licitatório. Para que os conceitos e relações sejam claros e precisos, com o objetivo de melhorar a documentação para usuários e grandes modelos de linguagem (LLM) aumentando a eficiência e precisão do processo de representação e recuperação de dados para apoiar processos de criação, gerenciamento e auditorias do processo licitatório. Por fim, a  ontologia adota a perspectiva do governo, com foco na preparação, fiscalização e auditoria de processos licitatórios. 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QUESTÕES DE COMPETÊNCIA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Para a identificação dos requisitos da ontologia, foi empregada a técnica de questões de competência. Estas foram elicitadas por meio de análise documental, entrevistas com especialistas de órgãos de esfera estadual e federal: TRT-PR, TCE-PR e SEFAZ-PR. Segue abaixo algumas perguntas de exemplo. Mais perguntas podem ser encontradas no repositório do projeto.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QC1. Quais são as pessoas jurídicas que apresentaram propostas para a Licitação &lt;X&gt;?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QC2. Quais foram as empresas vencedoras em licitações realizadas pelo critério de julgamento de técnica e preço?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QC3. Quais licitações autorizadas pela Autoridade Competente &lt;X&gt;  foram realizadas por meio de Contratação Direta?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QC4. Quais as propostas apresentados pelo licitante vencedor da Licitação &lt;X&gt; em outras  Licitações?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QC5. Qual foi o Critério de Julgamento  utilizado durante a disputa por concorrência na Licitação &lt;X&gt;?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QC6.  Quais foram as propostas vencedoras das licitações autorizadas pela autoridade competente &lt;X&gt;?</a:t>
            </a:r>
          </a:p>
          <a:p>
            <a:pPr algn="just"/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Para construção da ontologia foram utilizados a </a:t>
            </a:r>
            <a:r>
              <a:rPr lang="pt-BR" altLang="pt-BR" sz="2700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pt-BR" altLang="pt-BR" sz="2700" b="0" dirty="0">
                <a:latin typeface="Arial" panose="020B0604020202020204" pitchFamily="34" charset="0"/>
                <a:cs typeface="Geneva" pitchFamily="34" charset="0"/>
              </a:rPr>
              <a:t> e UFO, com reuso das ontologias COVER, Ontologia de Despesa Pública e do padrão de dados abertos em compras. Por fim a captura dos conceitos utilizando a Lei 14.133/2021 e os normativos adjacentes (Decretos 11.462/2023 e 12.807/2025 e LC 182/2021).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54104D9-FC55-1B02-4AAC-AFC19263B8B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6584938" y="17267048"/>
            <a:ext cx="14760000" cy="1066800"/>
          </a:xfrm>
        </p:spPr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95F0FA89-2A7B-42D5-0AFD-DB5A92049E2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556811" y="18259326"/>
            <a:ext cx="14760000" cy="5011800"/>
          </a:xfrm>
        </p:spPr>
        <p:txBody>
          <a:bodyPr/>
          <a:lstStyle/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A Engenharia de Ontologias, aplicada a domínios de alta complexidade como o processo licitatório brasileiro sob a Lei 14.133, provou ser uma abordagem fundamental para a organização e formalização precisa do conhecimento. Este trabalho documentou o desenvolvimento de uma ontologia de domínio para licitações federais, utilizando a metodologia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SABiOx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para garantir a sistematicidade e empregando a linguagem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, ontologicamente fundamentada na 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Unified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Foundational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Ontology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(UFO).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A principal contribuição reside na criação de um artefato de conhecimento 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decidível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e semanticamente rigoroso. A adoção de UFO e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não apenas garante que as distinções conceituais (como a diferença entre Agente Público e Agente de Contratação reflitam a realidade de forma inequívoca, mas também minimiza a ambiguidade que inerentemente permeia a linguagem legal. A utilização de questões de competência orientou o escopo do domínio, garantindo que o modelo seja capaz de responder às demandas informacionais críticas dos agentes públicos.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A implementação da ontologia operacional em OWL-DL (como detalhado na Seção 4.4), embora reconhecidamente implicando um trade-off na expressividade em relação à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, é uma escolha pragmática que maximiza a utilidade da ontologia. Este modelo implementado é apto a ser utilizado por 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reasoners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 para validação de consistência e por consultas SPARQL para recuperação de conhecimento, superando as limitações de sistemas de informação baseados em esquemas de dados tradicionais.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Como trabalho futuro, será essencial realizar uma validação de usabilidade com agentes de órgãos governamentais, seguida pela integração da ontologia em um Large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Language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Model (LLM) para demonstrar a capacidade de injetar conhecimento factual, responder questões do usuário e evitar alucinações em respostas sobre a Lei 14.133. Em última análise, esta ontologia de domínio é um passo concreto para aumentar a qualidade, a eficiência e a auditabilidade dos processos licitatórios por meio de uma representação de conhecimento precisa e formal.</a:t>
            </a:r>
          </a:p>
        </p:txBody>
      </p:sp>
      <p:sp>
        <p:nvSpPr>
          <p:cNvPr id="24" name=" 23">
            <a:extLst>
              <a:ext uri="{FF2B5EF4-FFF2-40B4-BE49-F238E27FC236}">
                <a16:creationId xmlns:a16="http://schemas.microsoft.com/office/drawing/2014/main" id="{EB8B5F84-853D-98FA-C882-38A8BA932FD0}"/>
              </a:ext>
            </a:extLst>
          </p:cNvPr>
          <p:cNvSpPr txBox="1">
            <a:spLocks/>
          </p:cNvSpPr>
          <p:nvPr/>
        </p:nvSpPr>
        <p:spPr bwMode="auto">
          <a:xfrm>
            <a:off x="16541825" y="34328100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lang="pt-BR" altLang="pt-BR" sz="6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REFERÊNCIAS</a:t>
            </a:r>
          </a:p>
        </p:txBody>
      </p:sp>
      <p:sp>
        <p:nvSpPr>
          <p:cNvPr id="25" name=" 24">
            <a:extLst>
              <a:ext uri="{FF2B5EF4-FFF2-40B4-BE49-F238E27FC236}">
                <a16:creationId xmlns:a16="http://schemas.microsoft.com/office/drawing/2014/main" id="{8C78906B-EF3A-8C24-DA2A-3B5F0B13B701}"/>
              </a:ext>
            </a:extLst>
          </p:cNvPr>
          <p:cNvSpPr txBox="1">
            <a:spLocks/>
          </p:cNvSpPr>
          <p:nvPr/>
        </p:nvSpPr>
        <p:spPr bwMode="auto">
          <a:xfrm>
            <a:off x="16556811" y="35382200"/>
            <a:ext cx="14760000" cy="50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lang="pt-BR" altLang="pt-BR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fontAlgn="auto"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Geneva" pitchFamily="34" charset="0"/>
              </a:rPr>
              <a:t>[1] CELESTINO, W. T.; FAUSTINO, Á. A.; ARAÚJO, M. C.; SILVA, N. G. A. Perspectivas e desafios: a implementação da nova lei de licitações e contratos nas universidades federais brasileiras. Revista Gestão Organizacional, v. 18, p. 86-107.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Geneva" pitchFamily="34" charset="0"/>
              </a:rPr>
              <a:t>[2] AGUIAR, C. Z.; SOUZA, V. E. S. SABiOx: the extended systematic approach for building ontologies. In: 17th Seminar on Ontology Research in Brazil (ONTOBRAS 2024), Vitória, 2024.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Geneva" pitchFamily="34" charset="0"/>
              </a:rPr>
              <a:t>[3] GUIZZARDI, G. Ontological Foundations for Structural Conceptual Models. Enschede: Telematica Instituut, 2005.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Geneva" pitchFamily="34" charset="0"/>
              </a:rPr>
              <a:t>[4] GUIZZARDI, G. The Role of Foundational Ontologies for Conceptual Modeling and Domain Ontology Representation. International Journal of Information System Modeling and Design, 2012.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Geneva" pitchFamily="34" charset="0"/>
              </a:rPr>
              <a:t>[5] BRASIL. Lei nº 14.133, de 1º de abril de 2021. Lei de Licitações e Contratos Administrativos. Brasília, 2021.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691777-11B6-5906-80FE-6DB47EA70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4418" y="395255"/>
            <a:ext cx="6580795" cy="2615609"/>
          </a:xfrm>
          <a:prstGeom prst="rect">
            <a:avLst/>
          </a:prstGeom>
        </p:spPr>
      </p:pic>
      <p:pic>
        <p:nvPicPr>
          <p:cNvPr id="27" name="Espaço Reservado para Imagem 26">
            <a:extLst>
              <a:ext uri="{FF2B5EF4-FFF2-40B4-BE49-F238E27FC236}">
                <a16:creationId xmlns:a16="http://schemas.microsoft.com/office/drawing/2014/main" id="{C268687E-CFE8-78EF-690C-9DC891D535BC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" t="3954" r="1718" b="4709"/>
          <a:stretch>
            <a:fillRect/>
          </a:stretch>
        </p:blipFill>
        <p:spPr>
          <a:xfrm>
            <a:off x="17040225" y="9129426"/>
            <a:ext cx="14020800" cy="70866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B01B8097-1AFA-51B2-955E-EE28D54650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8" t="6146" r="472" b="9626"/>
          <a:stretch>
            <a:fillRect/>
          </a:stretch>
        </p:blipFill>
        <p:spPr>
          <a:xfrm>
            <a:off x="1343025" y="35394900"/>
            <a:ext cx="14353950" cy="2667001"/>
          </a:xfrm>
          <a:prstGeom prst="rect">
            <a:avLst/>
          </a:prstGeom>
        </p:spPr>
      </p:pic>
      <p:sp>
        <p:nvSpPr>
          <p:cNvPr id="9" name="Espaço Reservado para Texto 14">
            <a:extLst>
              <a:ext uri="{FF2B5EF4-FFF2-40B4-BE49-F238E27FC236}">
                <a16:creationId xmlns:a16="http://schemas.microsoft.com/office/drawing/2014/main" id="{BDFE3B02-D27B-EB08-6320-8D803985C4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18101" y="38162549"/>
            <a:ext cx="14759999" cy="1066800"/>
          </a:xfrm>
        </p:spPr>
        <p:txBody>
          <a:bodyPr/>
          <a:lstStyle/>
          <a:p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Figura 1 -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 Parte da ontologia que nos permite responder quais Pessoas Jurídicas apresentaram propostas em uma licitação &lt;X&gt; [QC1] e quais as propostas vencedoras por contratação direta autorizadas por uma autoridade competente  específica [QC6].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F89F8E7C-BF18-F6F5-7E1E-D3A9F583A8D7}"/>
              </a:ext>
            </a:extLst>
          </p:cNvPr>
          <p:cNvSpPr txBox="1">
            <a:spLocks/>
          </p:cNvSpPr>
          <p:nvPr/>
        </p:nvSpPr>
        <p:spPr bwMode="auto">
          <a:xfrm>
            <a:off x="16670626" y="16219490"/>
            <a:ext cx="1463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 marL="0" marR="0" indent="0" algn="l" defTabSz="41370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137025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</a:defRPr>
            </a:lvl2pPr>
            <a:lvl3pPr marL="1698625" indent="0" algn="l" defTabSz="413702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</a:defRPr>
            </a:lvl3pPr>
            <a:lvl4pPr marL="1698625" indent="0" algn="l" defTabSz="413702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</a:defRPr>
            </a:lvl4pPr>
            <a:lvl5pPr marL="1698625" indent="0" algn="l" defTabSz="413702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latin typeface="+mn-lt"/>
              </a:defRPr>
            </a:lvl5pPr>
            <a:lvl6pPr marL="9765030" indent="-1035050" algn="l" defTabSz="4137025" rtl="0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+mn-lt"/>
              </a:defRPr>
            </a:lvl6pPr>
            <a:lvl7pPr marL="10222230" indent="-1035050" algn="l" defTabSz="4137025" rtl="0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+mn-lt"/>
              </a:defRPr>
            </a:lvl7pPr>
            <a:lvl8pPr marL="10679430" indent="-1035050" algn="l" defTabSz="4137025" rtl="0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+mn-lt"/>
              </a:defRPr>
            </a:lvl8pPr>
            <a:lvl9pPr marL="11136630" indent="-1035050" algn="l" defTabSz="4137025" rtl="0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altLang="pt-BR" b="1" kern="0" dirty="0">
                <a:latin typeface="Arial" panose="020B0604020202020204" pitchFamily="34" charset="0"/>
                <a:cs typeface="Arial" panose="020B0604020202020204" pitchFamily="34" charset="0"/>
              </a:rPr>
              <a:t>Figura 2 -  </a:t>
            </a:r>
            <a:r>
              <a:rPr lang="pt-BR" altLang="pt-BR" kern="0" dirty="0">
                <a:latin typeface="Arial" panose="020B0604020202020204" pitchFamily="34" charset="0"/>
                <a:cs typeface="Arial" panose="020B0604020202020204" pitchFamily="34" charset="0"/>
              </a:rPr>
              <a:t>Parte da ontologia que permite responder [QC2] e [QC5]. Registrando o histórico de eventos da licitação, o tipo de disputa utilizado e qual os critério de julgamento em uma disputa</a:t>
            </a:r>
          </a:p>
        </p:txBody>
      </p:sp>
    </p:spTree>
    <p:extLst>
      <p:ext uri="{BB962C8B-B14F-4D97-AF65-F5344CB8AC3E}">
        <p14:creationId xmlns:p14="http://schemas.microsoft.com/office/powerpoint/2010/main" val="124722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18D3-9AF9-E825-E5D4-5143F336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13001-6E33-2CBD-80A7-560E77CF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650" y="3976051"/>
            <a:ext cx="30110400" cy="2214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dirty="0"/>
              <a:t>Título do trabalho Arial, negrito, corpo 60pts, podendo ser reduzido para até corpo 55, caso a quantidade de texto ultrapasse o espaço delimitado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695BA8-F06B-52B2-1A2F-7443C0B7A85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02025" y="6782624"/>
            <a:ext cx="28800000" cy="1832101"/>
          </a:xfrm>
        </p:spPr>
        <p:txBody>
          <a:bodyPr/>
          <a:lstStyle/>
          <a:p>
            <a:pPr algn="ctr"/>
            <a:r>
              <a:rPr lang="pt-BR" altLang="pt-BR" sz="3600" dirty="0">
                <a:latin typeface="+mj-lt"/>
                <a:cs typeface="Geneva" pitchFamily="34" charset="0"/>
              </a:rPr>
              <a:t>Nomes dos autores: </a:t>
            </a:r>
            <a:r>
              <a:rPr lang="pt-BR" altLang="pt-BR" sz="3600" dirty="0" err="1">
                <a:latin typeface="+mj-lt"/>
                <a:cs typeface="Geneva" pitchFamily="34" charset="0"/>
              </a:rPr>
              <a:t>arial</a:t>
            </a:r>
            <a:r>
              <a:rPr lang="pt-BR" altLang="pt-BR" sz="3600" dirty="0">
                <a:latin typeface="+mj-lt"/>
                <a:cs typeface="Geneva" pitchFamily="34" charset="0"/>
              </a:rPr>
              <a:t>, negrito, corpo 36pt</a:t>
            </a:r>
          </a:p>
          <a:p>
            <a:pPr algn="ctr"/>
            <a:r>
              <a:rPr lang="pt-BR" altLang="pt-BR" sz="2800" b="0" dirty="0">
                <a:cs typeface="Geneva" pitchFamily="34" charset="0"/>
              </a:rPr>
              <a:t>Instituições; endereço eletrônico: </a:t>
            </a:r>
            <a:r>
              <a:rPr lang="pt-BR" altLang="pt-BR" sz="2800" b="0" dirty="0" err="1">
                <a:cs typeface="Geneva" pitchFamily="34" charset="0"/>
              </a:rPr>
              <a:t>arial</a:t>
            </a:r>
            <a:r>
              <a:rPr lang="pt-BR" altLang="pt-BR" sz="2800" b="0" dirty="0">
                <a:cs typeface="Geneva" pitchFamily="34" charset="0"/>
              </a:rPr>
              <a:t>, regular, corpo de 28pts a 32pts</a:t>
            </a:r>
            <a:endParaRPr lang="pt-BR" sz="2800" b="0" dirty="0"/>
          </a:p>
          <a:p>
            <a:pPr algn="ctr"/>
            <a:endParaRPr lang="pt-BR" sz="3600" dirty="0">
              <a:latin typeface="+mj-lt"/>
            </a:endParaRPr>
          </a:p>
        </p:txBody>
      </p:sp>
      <p:pic>
        <p:nvPicPr>
          <p:cNvPr id="30" name="Espaço Reservado para Imagem 29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96BA0628-E9EB-BEEB-EBD8-CB81D97AFBF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1025" y="124650"/>
            <a:ext cx="2457450" cy="2857500"/>
          </a:xfr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FE399E-1D1B-5ED7-DC16-77D8754AF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425" y="10325100"/>
            <a:ext cx="14760000" cy="1066800"/>
          </a:xfrm>
        </p:spPr>
        <p:txBody>
          <a:bodyPr/>
          <a:lstStyle/>
          <a:p>
            <a:r>
              <a:rPr lang="pt-BR" altLang="pt-BR" dirty="0">
                <a:latin typeface="Arial" panose="020B0604020202020204" pitchFamily="34" charset="0"/>
                <a:cs typeface="Geneva" pitchFamily="34" charset="0"/>
              </a:rPr>
              <a:t>INTRODUCTION (Arial, BOLD, 60pt)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C09E787-AB61-1F54-6229-A89973A6DDD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114425" y="11620500"/>
            <a:ext cx="14760000" cy="12777203"/>
          </a:xfrm>
        </p:spPr>
        <p:txBody>
          <a:bodyPr/>
          <a:lstStyle/>
          <a:p>
            <a:pPr algn="just"/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Body text in Arial regular font, size 32pt, which can be reduced to 24pt if the amount of text exceeds the delimited space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. ....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nnnnnnnnnnbbbbbbbbbbbbbbbaaaaaaaaaaaaaaaaaaacccccccckkkkkkkkkkkkkkkkkkkpppppppppppppppp nnnnnnnnnnbbbbbbbbbbbbbbbaaaaaaaaaaaaaaaaaaacccccccckkkkkkkkkkkkkkkkkkkpppppppppppppppp nnnnnnnnnnbbbbbbbbbbbbbbbaaaaaaaaaaaaaaaaaaacccccccckkkkkkkkkkkkkkkkkkkkkkkkkkkkkkkkkkkkkkkkkkkkkkkkkkk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nnnnnnnnnnbbbbbbbbbbbbbbbaaaaaaaaaaaaaaaaaaacccccccckkkkkkkkkkkkkkkkkkkpppppppppppppppp nnnnnnnnnnbbbbbbbbbbbbbbbaaaaaaaaaaaaaaaaaaacccccccckkkkkkkkkkkkkkkkkkkpppppppppppppppp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nnnnnnnnnnbbbbbbbbbbbbbbbaaaaaaaaaaaaaaaaaaacccccccckkkkkkkkkkkkkkkkkkkpppppppppppppppp nnnnnnnnnnbbbbbbbbbbbbbbbaaaaaaaaaaaaaaaaaaacccccccckkkkkkkkkkkkkkkkkkkpppppppppppppppp nnnnnnnnnnbbbbbbbbbbbbbbbaaaaaaaaaaaaaaaaaaacccccccckkkkkkkkkkkkkkkkkkkpppppppppppppppp nnnnnnnnnnbbbbbbbbbbbbbbbaaaaaaaaaaaaaaaaaaacccccccckkkkkkkkkkkkkkkkkkkpppppppppppppppnnnnnnnnnnbbbbbbbbbbbbbbbaaaaaaaaaaaaaaaaaaacccccccckkkkkkkkkkkkkkkkkkkpppppppppppppppp</a:t>
            </a:r>
          </a:p>
          <a:p>
            <a:pPr algn="just"/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nnnnnnnnnnbbbbbbbbbbbbbbbaaaaaaaaaaaaaaaaaaacccccccckkkkkkkkkkkkkkkkkkkkkkkkkkkkkkhhhhhhhhhhhhhhhhhhhhhhhhhhhhhh</a:t>
            </a:r>
            <a:endParaRPr lang="pt-BR" b="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42368AF-2792-9FB4-71A2-5C7F2FCE040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6506825" y="10325100"/>
            <a:ext cx="14760000" cy="1066800"/>
          </a:xfrm>
        </p:spPr>
        <p:txBody>
          <a:bodyPr/>
          <a:lstStyle/>
          <a:p>
            <a:r>
              <a:rPr lang="pt-BR" altLang="pt-BR" dirty="0">
                <a:latin typeface="Arial" panose="020B0604020202020204" pitchFamily="34" charset="0"/>
                <a:cs typeface="Geneva" pitchFamily="34" charset="0"/>
              </a:rPr>
              <a:t>RESULTS AND/OR DISCUSSION</a:t>
            </a:r>
            <a:endParaRPr lang="pt-BR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F66FF570-427E-AABA-0108-A9AB65C9844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506825" y="11620500"/>
            <a:ext cx="14760000" cy="5766803"/>
          </a:xfrm>
        </p:spPr>
        <p:txBody>
          <a:bodyPr/>
          <a:lstStyle/>
          <a:p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Body text in Arial regular font, size 32pt, which can be reduced to 24pt if the amount of text exceeds the delimited space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. ....</a:t>
            </a:r>
          </a:p>
          <a:p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nnnnnnnnnnbbbbbbbbbbbbbbbaaaaaaaaaaaaaaaaaaacccccccckkkkkkkkkkkkkkkkkkkpppppppppppppppp nnnnnnnnnnbbbbbbbbbbbbbbbaaaaaaaaaaaaaaaaaaacccccccckkkkkkkkkkkkkkkkkkkpppppppppppppppp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pt-BR" altLang="pt-BR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</a:t>
            </a:r>
            <a:r>
              <a:rPr lang="pt-BR" altLang="pt-BR" b="0" dirty="0">
                <a:latin typeface="Arial" panose="020B0604020202020204" pitchFamily="34" charset="0"/>
                <a:cs typeface="Geneva" pitchFamily="34" charset="0"/>
              </a:rPr>
              <a:t> nnnnnnnnnnbbbbbbbbbbbbbbbaaaaaaaaaaaaaaaaaaacccccccckkkkkkkkkkkkkkkkkkkpppppppppppppppp</a:t>
            </a:r>
            <a:endParaRPr lang="pt-BR" b="0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A9D99A8-0F29-1BC9-A23F-0BE69155254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114425" y="24269700"/>
            <a:ext cx="14760000" cy="1066800"/>
          </a:xfrm>
        </p:spPr>
        <p:txBody>
          <a:bodyPr/>
          <a:lstStyle/>
          <a:p>
            <a:r>
              <a:rPr lang="pt-BR" dirty="0"/>
              <a:t>METHODOLOGY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50E5F0D3-9829-675A-C23B-EBB78A77DD7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114425" y="25488900"/>
            <a:ext cx="14760000" cy="6781799"/>
          </a:xfrm>
        </p:spPr>
        <p:txBody>
          <a:bodyPr/>
          <a:lstStyle/>
          <a:p>
            <a:pPr algn="just"/>
            <a:r>
              <a:rPr lang="en-US" altLang="pt-BR" sz="2800" b="0" dirty="0">
                <a:latin typeface="Arial" panose="020B0604020202020204" pitchFamily="34" charset="0"/>
                <a:cs typeface="Geneva" pitchFamily="34" charset="0"/>
              </a:rPr>
              <a:t>Body text in Arial regular font, size 32pt, which can be reduced to 24pt if the amount of text exceeds the delimited space.</a:t>
            </a:r>
            <a:r>
              <a:rPr lang="pt-BR" altLang="pt-BR" sz="2800" b="0" dirty="0">
                <a:latin typeface="Arial" panose="020B0604020202020204" pitchFamily="34" charset="0"/>
                <a:cs typeface="Geneva" pitchFamily="34" charset="0"/>
              </a:rPr>
              <a:t>.............</a:t>
            </a:r>
          </a:p>
          <a:p>
            <a:pPr algn="just"/>
            <a:r>
              <a:rPr lang="pt-BR" altLang="pt-BR" sz="2800" b="0" dirty="0">
                <a:latin typeface="Arial" panose="020B0604020202020204" pitchFamily="34" charset="0"/>
                <a:cs typeface="Geneva" pitchFamily="34" charset="0"/>
              </a:rPr>
              <a:t>nnnnnnnnnnbbbbbbbbbbbbbbbaaaaaaaaaaaaaaaaaaaaaaaaaaaaaacccccccccccccccccccccccccccccckkkkkkkkkkk nnnnnnnnnnbbbbbbbbbbbbbbbaaaaaaaaaaaaaaaaaaacccccccckkkkkkkkkkkkkkkkkkkkkkkkkkk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800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</a:t>
            </a:r>
            <a:endParaRPr lang="pt-BR" altLang="pt-BR" sz="2800" b="0" dirty="0">
              <a:latin typeface="Arial" panose="020B0604020202020204" pitchFamily="34" charset="0"/>
              <a:cs typeface="Geneva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800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Nnnnnnnnnnbbbbbbbbbbbbbbbaaaaaaaaaaaaaaaaaaacccccccckkkkkkkkkkkkkkkkkkkkkkkkkkkkkkkkklllllllllllllllllllllllllllllllllllllllllllllllljjjjjjjjjjjjjmmmmmmmmmmmmmmmfffffffff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800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</a:t>
            </a:r>
            <a:endParaRPr lang="pt-BR" altLang="pt-BR" sz="2800" b="0" dirty="0">
              <a:latin typeface="Arial" panose="020B0604020202020204" pitchFamily="34" charset="0"/>
              <a:cs typeface="Geneva" pitchFamily="34" charset="0"/>
            </a:endParaRPr>
          </a:p>
          <a:p>
            <a:pPr algn="just"/>
            <a:r>
              <a:rPr lang="pt-BR" altLang="pt-BR" sz="2800" b="0" dirty="0" err="1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</a:t>
            </a:r>
            <a:r>
              <a:rPr lang="pt-BR" altLang="pt-BR" sz="2800" b="0" dirty="0">
                <a:latin typeface="Arial" panose="020B0604020202020204" pitchFamily="34" charset="0"/>
                <a:cs typeface="Geneva" pitchFamily="34" charset="0"/>
              </a:rPr>
              <a:t> nnnnnnnnnnbbbbbbbbbbbbbbbaaaaaaaaaaaaaaaaaaacccccccckkkkkkkkkkkkkkkkkkkpppppppppppppppp nnnnnnnnnnbbbbbbbbbbbkkkkkkkkkkkkkkkkkkkppppppppppppppppaaaaaaaaaaaaaaaaaaaaaaaaaaaaaaaaaaaawwwwwwwwwwwwwwwwwwwwwwwwwwwwwwwwwwww</a:t>
            </a:r>
          </a:p>
          <a:p>
            <a:pPr algn="just"/>
            <a:r>
              <a:rPr lang="pt-BR" altLang="pt-BR" sz="2800" b="0" dirty="0">
                <a:latin typeface="Arial" panose="020B0604020202020204" pitchFamily="34" charset="0"/>
                <a:cs typeface="Geneva" pitchFamily="34" charset="0"/>
              </a:rPr>
              <a:t>nnnnnnnnnnbbbbbbbbbbbbbbbaaaaaaaaaaaaaaaaaaacccccccckkkkkkkkkkkkkkkkkkkpppppppppppppppp </a:t>
            </a:r>
            <a:r>
              <a:rPr lang="pt-BR" altLang="pt-BR" sz="2800" b="0" dirty="0" err="1">
                <a:latin typeface="Arial" panose="020B0604020202020204" pitchFamily="34" charset="0"/>
                <a:cs typeface="Geneva" pitchFamily="34" charset="0"/>
              </a:rPr>
              <a:t>nnnnnnnnnnbbbbbbbbbbbkkkkkkkkkkkkkkkkkkkpppppppppppppppp</a:t>
            </a:r>
            <a:endParaRPr lang="pt-BR" sz="2800" b="0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1C781CE3-05C0-ACC9-2CD6-7FC5F63B2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6461846" y="26971499"/>
            <a:ext cx="14760000" cy="1066800"/>
          </a:xfrm>
        </p:spPr>
        <p:txBody>
          <a:bodyPr/>
          <a:lstStyle/>
          <a:p>
            <a:r>
              <a:rPr lang="pt-BR" dirty="0"/>
              <a:t>CONCLUSION </a:t>
            </a:r>
            <a:r>
              <a:rPr lang="pt-BR" dirty="0" err="1"/>
              <a:t>or</a:t>
            </a:r>
            <a:r>
              <a:rPr lang="pt-BR" dirty="0"/>
              <a:t> FINAL REMARKS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F18462F4-7100-0343-A64E-458B9AC2AD7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506825" y="28782900"/>
            <a:ext cx="14760000" cy="5011800"/>
          </a:xfrm>
        </p:spPr>
        <p:txBody>
          <a:bodyPr/>
          <a:lstStyle/>
          <a:p>
            <a:pPr algn="just"/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Engenharia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aplicada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domínios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alta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complexidade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como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processo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licitatório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brasileiro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sob a Lei 14.133,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provou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ser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abordagem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fundamental para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organização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formalização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precisa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conhecimento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. Este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trabalho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documentou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desenvolvimento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domínio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licitações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federais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utilizando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metodologia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SABiOx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garantir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sistematicidade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empregando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linguagem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ontologicamente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fundamentada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na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 Unified Foundational Ontology (UFO).</a:t>
            </a:r>
          </a:p>
          <a:p>
            <a:pPr algn="just"/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A principal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contribuição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reside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na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criação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um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artefato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conhecimento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 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decidível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semanticamente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rigoroso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.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adoção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UFO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não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apenas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garante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distinções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conceituais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(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como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diferença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entre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Agente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Público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Agente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Contratação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reflitam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realidade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forma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inequívoca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mas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também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minimiza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ambiguidade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inerentemente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permeia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linguagem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legal.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utilização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questões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competência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(QC1-QC6)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orientou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escopo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domínio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garantindo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modelo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seja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capaz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responder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às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demandas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informacionais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críticas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dos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agentes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públicos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.</a:t>
            </a:r>
          </a:p>
          <a:p>
            <a:pPr algn="just"/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implementação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operacional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 OWL-DL + SWRL  (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como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detalhado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na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Seção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4.4),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embora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reconhecidamente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implicando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um trade-off 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na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expressividade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relação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à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OntoUML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é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escolha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pragmática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maximiza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utilidade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. Este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modelo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implementado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é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apto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ser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utilizado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por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 reasoners 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validação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consistência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por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consultas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SPARQL 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recuperação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conhecimento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superando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limitações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sistemas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informação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baseados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esquemas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dados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tradicionais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.</a:t>
            </a:r>
          </a:p>
          <a:p>
            <a:pPr algn="just"/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Como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trabalho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futuro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será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essencial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realizar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validação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usabilidade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com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agentes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órgãos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governamentais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seguida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pela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integração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um Large Language Model (LLM) 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demonstrar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capacidade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injetar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conhecimento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factual 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evitar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alucinações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em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respostas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sobre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Lei 14.133. Em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última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análise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esta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ontologia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domínio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é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um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passo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concreto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para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aumentar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qualidade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, a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eficiência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a auditabilidade dos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processos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licitatórios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por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meio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uma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representação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de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conhecimento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</a:t>
            </a:r>
            <a:r>
              <a:rPr lang="en-US" altLang="pt-BR" b="0" dirty="0" err="1">
                <a:latin typeface="Arial" panose="020B0604020202020204" pitchFamily="34" charset="0"/>
                <a:cs typeface="Geneva" pitchFamily="34" charset="0"/>
              </a:rPr>
              <a:t>precisa</a:t>
            </a:r>
            <a:r>
              <a:rPr lang="en-US" altLang="pt-BR" b="0" dirty="0">
                <a:latin typeface="Arial" panose="020B0604020202020204" pitchFamily="34" charset="0"/>
                <a:cs typeface="Geneva" pitchFamily="34" charset="0"/>
              </a:rPr>
              <a:t> e formal.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pic>
        <p:nvPicPr>
          <p:cNvPr id="21" name="Espaço Reservado para Imagem 20" descr="Diagrama&#10;&#10;O conteúdo gerado por IA pode estar incorreto.">
            <a:extLst>
              <a:ext uri="{FF2B5EF4-FFF2-40B4-BE49-F238E27FC236}">
                <a16:creationId xmlns:a16="http://schemas.microsoft.com/office/drawing/2014/main" id="{B028F545-20BC-DC0D-AE26-1AA2D6A7B55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" t="4286" r="978" b="8572"/>
          <a:stretch>
            <a:fillRect/>
          </a:stretch>
        </p:blipFill>
        <p:spPr>
          <a:xfrm>
            <a:off x="1137225" y="32752297"/>
            <a:ext cx="14760000" cy="5766803"/>
          </a:xfrm>
          <a:solidFill>
            <a:schemeClr val="bg1">
              <a:lumMod val="95000"/>
            </a:schemeClr>
          </a:solidFill>
        </p:spPr>
      </p:pic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1A7071EB-7B4A-D9CC-DA72-8CD675DCF3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18250" y="38671500"/>
            <a:ext cx="14759999" cy="1066800"/>
          </a:xfrm>
        </p:spPr>
        <p:txBody>
          <a:bodyPr/>
          <a:lstStyle/>
          <a:p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Figure 1 -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, 24pts-20pts)</a:t>
            </a:r>
            <a:endParaRPr lang="pt-BR" alt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b="1" dirty="0" err="1"/>
              <a:t>Source</a:t>
            </a:r>
            <a:r>
              <a:rPr lang="pt-BR" altLang="pt-BR" b="1" dirty="0"/>
              <a:t>:</a:t>
            </a:r>
            <a:r>
              <a:rPr lang="pt-BR" altLang="pt-BR" dirty="0"/>
              <a:t> 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Silva (2010). (</a:t>
            </a:r>
            <a:r>
              <a:rPr lang="pt-BR" altLang="pt-BR" dirty="0" err="1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r>
              <a:rPr lang="pt-BR" altLang="pt-BR" dirty="0">
                <a:latin typeface="Arial" panose="020B0604020202020204" pitchFamily="34" charset="0"/>
                <a:cs typeface="Arial" panose="020B0604020202020204" pitchFamily="34" charset="0"/>
              </a:rPr>
              <a:t>, 24pts-20pts)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ABA9299-E3D1-A8A0-3E1B-54866FC2E68A}"/>
              </a:ext>
            </a:extLst>
          </p:cNvPr>
          <p:cNvSpPr/>
          <p:nvPr/>
        </p:nvSpPr>
        <p:spPr>
          <a:xfrm>
            <a:off x="0" y="8877300"/>
            <a:ext cx="1080000" cy="3131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5400" b="1" dirty="0"/>
              <a:t>Margem 3 cm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42F973-CDD7-F9DB-2AF2-130EC9B6FE7B}"/>
              </a:ext>
            </a:extLst>
          </p:cNvPr>
          <p:cNvSpPr/>
          <p:nvPr/>
        </p:nvSpPr>
        <p:spPr>
          <a:xfrm>
            <a:off x="31324050" y="8877300"/>
            <a:ext cx="1080000" cy="3131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5400" b="1" dirty="0"/>
              <a:t>Margem 3 cm</a:t>
            </a:r>
          </a:p>
        </p:txBody>
      </p:sp>
      <p:graphicFrame>
        <p:nvGraphicFramePr>
          <p:cNvPr id="22" name="Table 16">
            <a:extLst>
              <a:ext uri="{FF2B5EF4-FFF2-40B4-BE49-F238E27FC236}">
                <a16:creationId xmlns:a16="http://schemas.microsoft.com/office/drawing/2014/main" id="{7D1EF766-A7A6-E904-4051-23E8CF648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531086"/>
              </p:ext>
            </p:extLst>
          </p:nvPr>
        </p:nvGraphicFramePr>
        <p:xfrm>
          <a:off x="16735426" y="17756502"/>
          <a:ext cx="14317665" cy="429876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63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3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7873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/>
                        <a:t>Column 1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aseline="0" dirty="0"/>
                        <a:t>Column 2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aseline="0" dirty="0"/>
                        <a:t>Column 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altLang="pt-BR" sz="2800" b="1" dirty="0" err="1"/>
                        <a:t>arial</a:t>
                      </a:r>
                      <a:r>
                        <a:rPr lang="pt-BR" altLang="pt-BR" sz="2800" b="1" dirty="0"/>
                        <a:t>, </a:t>
                      </a:r>
                      <a:r>
                        <a:rPr lang="pt-BR" altLang="pt-BR" sz="2800" b="1" dirty="0" err="1"/>
                        <a:t>bold</a:t>
                      </a:r>
                      <a:r>
                        <a:rPr lang="pt-BR" altLang="pt-BR" sz="2800" b="1" dirty="0"/>
                        <a:t>, 28 pts-24pts</a:t>
                      </a:r>
                      <a:endParaRPr lang="en-US" sz="2800" b="1" baseline="0" dirty="0"/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aseline="0" dirty="0"/>
                        <a:t>Column 5</a:t>
                      </a:r>
                    </a:p>
                  </a:txBody>
                  <a:tcPr marL="91437" marR="91437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46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46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2400" b="0" dirty="0" err="1"/>
                        <a:t>arial</a:t>
                      </a:r>
                      <a:r>
                        <a:rPr lang="pt-BR" altLang="pt-BR" sz="2400" b="0" dirty="0"/>
                        <a:t>, regular, 24 pts-20pts</a:t>
                      </a:r>
                      <a:endParaRPr lang="en-US" sz="2400" b="0" baseline="0" dirty="0"/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46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469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123</a:t>
                      </a:r>
                    </a:p>
                  </a:txBody>
                  <a:tcPr marL="91437" marR="91437"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CaixaDeTexto 1">
            <a:extLst>
              <a:ext uri="{FF2B5EF4-FFF2-40B4-BE49-F238E27FC236}">
                <a16:creationId xmlns:a16="http://schemas.microsoft.com/office/drawing/2014/main" id="{42EDCD4B-6475-A959-876F-8BB4AD06C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5425" y="22288500"/>
            <a:ext cx="1431766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lvl1pPr marL="0" marR="0" indent="0" defTabSz="413702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tabLst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defTabSz="4137025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1698625" indent="0" defTabSz="4137025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+mn-lt"/>
              </a:defRPr>
            </a:lvl3pPr>
            <a:lvl4pPr marL="1698625" indent="0" defTabSz="4137025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+mn-lt"/>
              </a:defRPr>
            </a:lvl4pPr>
            <a:lvl5pPr marL="1698625" indent="0" defTabSz="4137025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9765030" indent="-1035050" defTabSz="4137025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latin typeface="+mn-lt"/>
              </a:defRPr>
            </a:lvl6pPr>
            <a:lvl7pPr marL="10222230" indent="-1035050" defTabSz="4137025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latin typeface="+mn-lt"/>
              </a:defRPr>
            </a:lvl7pPr>
            <a:lvl8pPr marL="10679430" indent="-1035050" defTabSz="4137025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latin typeface="+mn-lt"/>
              </a:defRPr>
            </a:lvl8pPr>
            <a:lvl9pPr marL="11136630" indent="-1035050" defTabSz="4137025" fontAlgn="base">
              <a:spcBef>
                <a:spcPct val="20000"/>
              </a:spcBef>
              <a:spcAft>
                <a:spcPct val="0"/>
              </a:spcAft>
              <a:buChar char="»"/>
              <a:defRPr sz="9000">
                <a:latin typeface="+mn-lt"/>
              </a:defRPr>
            </a:lvl9pPr>
          </a:lstStyle>
          <a:p>
            <a:r>
              <a:rPr lang="pt-BR" altLang="pt-BR" dirty="0" err="1"/>
              <a:t>Table</a:t>
            </a:r>
            <a:r>
              <a:rPr lang="pt-BR" altLang="pt-BR" dirty="0"/>
              <a:t> 1 – </a:t>
            </a:r>
            <a:r>
              <a:rPr lang="pt-BR" altLang="pt-BR" b="0" dirty="0" err="1"/>
              <a:t>Table</a:t>
            </a:r>
            <a:r>
              <a:rPr lang="pt-BR" altLang="pt-BR" b="0" dirty="0"/>
              <a:t> </a:t>
            </a:r>
            <a:r>
              <a:rPr lang="pt-BR" altLang="pt-BR" b="0" dirty="0" err="1"/>
              <a:t>title</a:t>
            </a:r>
            <a:r>
              <a:rPr lang="pt-BR" altLang="pt-BR" b="0" dirty="0"/>
              <a:t> (</a:t>
            </a:r>
            <a:r>
              <a:rPr lang="pt-BR" altLang="pt-BR" b="0" dirty="0" err="1"/>
              <a:t>arial</a:t>
            </a:r>
            <a:r>
              <a:rPr lang="pt-BR" altLang="pt-BR" b="0" dirty="0"/>
              <a:t>, 24 pts-20pts)</a:t>
            </a:r>
          </a:p>
          <a:p>
            <a:r>
              <a:rPr lang="pt-BR" altLang="pt-BR" dirty="0" err="1"/>
              <a:t>Source</a:t>
            </a:r>
            <a:r>
              <a:rPr lang="pt-BR" altLang="pt-BR" dirty="0"/>
              <a:t>: </a:t>
            </a:r>
            <a:r>
              <a:rPr lang="pt-BR" altLang="pt-BR" b="0" dirty="0" err="1"/>
              <a:t>Prepared</a:t>
            </a:r>
            <a:r>
              <a:rPr lang="pt-BR" altLang="pt-BR" b="0" dirty="0"/>
              <a:t> </a:t>
            </a:r>
            <a:r>
              <a:rPr lang="pt-BR" altLang="pt-BR" b="0" dirty="0" err="1"/>
              <a:t>by</a:t>
            </a:r>
            <a:r>
              <a:rPr lang="pt-BR" altLang="pt-BR" b="0" dirty="0"/>
              <a:t> the </a:t>
            </a:r>
            <a:r>
              <a:rPr lang="pt-BR" altLang="pt-BR" b="0" dirty="0" err="1"/>
              <a:t>authors</a:t>
            </a:r>
            <a:r>
              <a:rPr lang="pt-BR" altLang="pt-BR" b="0" dirty="0"/>
              <a:t> (2026). (</a:t>
            </a:r>
            <a:r>
              <a:rPr lang="pt-BR" altLang="pt-BR" b="0" dirty="0" err="1"/>
              <a:t>arial</a:t>
            </a:r>
            <a:r>
              <a:rPr lang="pt-BR" altLang="pt-BR" b="0" dirty="0"/>
              <a:t>, 24 pts-20pts)</a:t>
            </a:r>
          </a:p>
          <a:p>
            <a:endParaRPr lang="pt-BR" altLang="pt-BR" b="0" dirty="0"/>
          </a:p>
        </p:txBody>
      </p:sp>
      <p:sp>
        <p:nvSpPr>
          <p:cNvPr id="24" name=" 23">
            <a:extLst>
              <a:ext uri="{FF2B5EF4-FFF2-40B4-BE49-F238E27FC236}">
                <a16:creationId xmlns:a16="http://schemas.microsoft.com/office/drawing/2014/main" id="{CDDBE590-1EB2-7BFB-2A4C-3E3CC70CEC34}"/>
              </a:ext>
            </a:extLst>
          </p:cNvPr>
          <p:cNvSpPr txBox="1">
            <a:spLocks/>
          </p:cNvSpPr>
          <p:nvPr/>
        </p:nvSpPr>
        <p:spPr bwMode="auto">
          <a:xfrm>
            <a:off x="16539149" y="34113599"/>
            <a:ext cx="1476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lang="pt-BR" altLang="pt-BR" sz="6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REFERENCES</a:t>
            </a:r>
          </a:p>
        </p:txBody>
      </p:sp>
      <p:sp>
        <p:nvSpPr>
          <p:cNvPr id="25" name=" 24">
            <a:extLst>
              <a:ext uri="{FF2B5EF4-FFF2-40B4-BE49-F238E27FC236}">
                <a16:creationId xmlns:a16="http://schemas.microsoft.com/office/drawing/2014/main" id="{7C86B5D9-714F-B903-1D3A-04B9746AEB6F}"/>
              </a:ext>
            </a:extLst>
          </p:cNvPr>
          <p:cNvSpPr txBox="1">
            <a:spLocks/>
          </p:cNvSpPr>
          <p:nvPr/>
        </p:nvSpPr>
        <p:spPr bwMode="auto">
          <a:xfrm>
            <a:off x="16605825" y="35107500"/>
            <a:ext cx="14760000" cy="50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3656" tIns="206828" rIns="413656" bIns="206828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lang="pt-BR" altLang="pt-BR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ts val="0"/>
              </a:spcBef>
              <a:spcAft>
                <a:spcPts val="0"/>
              </a:spcAft>
            </a:pPr>
            <a:r>
              <a:rPr lang="en-US" altLang="pt-BR" dirty="0">
                <a:latin typeface="Arial" panose="020B0604020202020204" pitchFamily="34" charset="0"/>
                <a:cs typeface="Geneva" pitchFamily="34" charset="0"/>
              </a:rPr>
              <a:t>Body text in Arial regular font, size 32pt, which can be reduced to 24pt if the amount of text exceeds the delimited space.</a:t>
            </a:r>
            <a:endParaRPr lang="pt-BR" dirty="0"/>
          </a:p>
        </p:txBody>
      </p:sp>
      <p:sp>
        <p:nvSpPr>
          <p:cNvPr id="5" name="Texto Explicativo: Seta para a Direita 4">
            <a:extLst>
              <a:ext uri="{FF2B5EF4-FFF2-40B4-BE49-F238E27FC236}">
                <a16:creationId xmlns:a16="http://schemas.microsoft.com/office/drawing/2014/main" id="{193C555A-3181-B27B-DACD-46FB66DCB440}"/>
              </a:ext>
            </a:extLst>
          </p:cNvPr>
          <p:cNvSpPr/>
          <p:nvPr/>
        </p:nvSpPr>
        <p:spPr>
          <a:xfrm>
            <a:off x="19557713" y="427078"/>
            <a:ext cx="7693312" cy="2395698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49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b="1" dirty="0"/>
              <a:t>Logo da instituição dos autores. OPCIONAL</a:t>
            </a:r>
          </a:p>
        </p:txBody>
      </p:sp>
    </p:spTree>
    <p:extLst>
      <p:ext uri="{BB962C8B-B14F-4D97-AF65-F5344CB8AC3E}">
        <p14:creationId xmlns:p14="http://schemas.microsoft.com/office/powerpoint/2010/main" val="3178425563"/>
      </p:ext>
    </p:extLst>
  </p:cSld>
  <p:clrMapOvr>
    <a:masterClrMapping/>
  </p:clrMapOvr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41AD19-FC97-BF4F-8E2C-65E5A7BFFEF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34e8274-6c91-4cab-ab4a-9c464a8dddc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1869</Words>
  <Application>Microsoft Macintosh PowerPoint</Application>
  <PresentationFormat>Personalizar</PresentationFormat>
  <Paragraphs>92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Geneva</vt:lpstr>
      <vt:lpstr>Times New Roman</vt:lpstr>
      <vt:lpstr>Estrutura padrão</vt:lpstr>
      <vt:lpstr>Ontologia de Domínio de Licitação Segundo a LEI 14.133 fundamentada na UFO</vt:lpstr>
      <vt:lpstr>Título do trabalho Arial, negrito, corpo 60pts, podendo ser reduzido para até corpo 55, caso a quantidade de texto ultrapasse o espaço delimitado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UniRV</dc:creator>
  <cp:lastModifiedBy>Alex Pinheiro das Graças</cp:lastModifiedBy>
  <cp:revision>253</cp:revision>
  <dcterms:created xsi:type="dcterms:W3CDTF">2007-11-19T21:30:54Z</dcterms:created>
  <dcterms:modified xsi:type="dcterms:W3CDTF">2026-09-21T05:03:14Z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1046-10.2.0.5965</vt:lpwstr>
  </property>
</Properties>
</file>